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81" r:id="rId2"/>
    <p:sldId id="299" r:id="rId3"/>
    <p:sldId id="300" r:id="rId4"/>
    <p:sldId id="293" r:id="rId5"/>
    <p:sldId id="294" r:id="rId6"/>
    <p:sldId id="297" r:id="rId7"/>
    <p:sldId id="298" r:id="rId8"/>
    <p:sldId id="30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5E17C-C7A2-4D07-86BD-0AED5756CDEA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30D7C-6BC0-4C69-B28D-2778EAFCC1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3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579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341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6057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498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340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823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E5025C-D339-CA44-A36B-8E73313542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250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3498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6994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1947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9591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7816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21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49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4126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072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8023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213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>
            <a:extLst>
              <a:ext uri="{FF2B5EF4-FFF2-40B4-BE49-F238E27FC236}">
                <a16:creationId xmlns:a16="http://schemas.microsoft.com/office/drawing/2014/main" id="{46E5620F-478F-45CC-89C6-2D88B132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A5EC652B-F000-0EA2-251F-415C856D49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x-none"/>
          </a:p>
        </p:txBody>
      </p:sp>
      <p:sp>
        <p:nvSpPr>
          <p:cNvPr id="1028" name="Line 9">
            <a:extLst>
              <a:ext uri="{FF2B5EF4-FFF2-40B4-BE49-F238E27FC236}">
                <a16:creationId xmlns:a16="http://schemas.microsoft.com/office/drawing/2014/main" id="{D148B700-4942-888C-0D11-7D4AE6C87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x-none"/>
          </a:p>
        </p:txBody>
      </p:sp>
      <p:pic>
        <p:nvPicPr>
          <p:cNvPr id="1029" name="图片 8">
            <a:extLst>
              <a:ext uri="{FF2B5EF4-FFF2-40B4-BE49-F238E27FC236}">
                <a16:creationId xmlns:a16="http://schemas.microsoft.com/office/drawing/2014/main" id="{1636003B-FE6C-0624-0D82-777DE0CF29E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351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2CCD-DBAB-B799-AAE1-90810CC91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06568"/>
            <a:ext cx="10363200" cy="763694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2026 Final Project</a:t>
            </a:r>
            <a:endParaRPr lang="x-none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39DBDA-E8B0-4CDA-A2D6-486C9C55F7EF}"/>
              </a:ext>
            </a:extLst>
          </p:cNvPr>
          <p:cNvSpPr/>
          <p:nvPr/>
        </p:nvSpPr>
        <p:spPr>
          <a:xfrm>
            <a:off x="128026" y="555077"/>
            <a:ext cx="12400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Instructions: Overview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D4BFD35-711A-08FF-F7C4-43582D91CEA3}"/>
              </a:ext>
            </a:extLst>
          </p:cNvPr>
          <p:cNvSpPr/>
          <p:nvPr/>
        </p:nvSpPr>
        <p:spPr>
          <a:xfrm>
            <a:off x="411597" y="1171818"/>
            <a:ext cx="7267587" cy="19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3-5 people per group. In </a:t>
            </a:r>
            <a:r>
              <a:rPr lang="en-US" altLang="zh-CN" sz="23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DingTalk</a:t>
            </a:r>
            <a:r>
              <a:rPr lang="en-US" altLang="zh-CN" sz="2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group.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Each student must engage in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substantive work</a:t>
            </a:r>
            <a:r>
              <a:rPr lang="en-US" altLang="zh-CN" sz="2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(excluding making ppt or report),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and please clearly state your contributions</a:t>
            </a:r>
            <a:r>
              <a:rPr lang="en-US" altLang="zh-CN" sz="2000" dirty="0"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in the presentation and report.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99C209-3F90-4F16-A4F4-1BF1818154B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94594" y="1559792"/>
          <a:ext cx="4172505" cy="2372838"/>
        </p:xfrm>
        <a:graphic>
          <a:graphicData uri="http://schemas.openxmlformats.org/drawingml/2006/table">
            <a:tbl>
              <a:tblPr/>
              <a:tblGrid>
                <a:gridCol w="1552031">
                  <a:extLst>
                    <a:ext uri="{9D8B030D-6E8A-4147-A177-3AD203B41FA5}">
                      <a16:colId xmlns:a16="http://schemas.microsoft.com/office/drawing/2014/main" val="2913478041"/>
                    </a:ext>
                  </a:extLst>
                </a:gridCol>
                <a:gridCol w="1196143">
                  <a:extLst>
                    <a:ext uri="{9D8B030D-6E8A-4147-A177-3AD203B41FA5}">
                      <a16:colId xmlns:a16="http://schemas.microsoft.com/office/drawing/2014/main" val="794829390"/>
                    </a:ext>
                  </a:extLst>
                </a:gridCol>
                <a:gridCol w="1424331">
                  <a:extLst>
                    <a:ext uri="{9D8B030D-6E8A-4147-A177-3AD203B41FA5}">
                      <a16:colId xmlns:a16="http://schemas.microsoft.com/office/drawing/2014/main" val="3143565176"/>
                    </a:ext>
                  </a:extLst>
                </a:gridCol>
              </a:tblGrid>
              <a:tr h="7572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Scores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Project1-4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ProjectX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582869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Evaluation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3826564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Presentation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55277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Report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01265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81280A7-F26C-455C-886D-27934C532B9F}"/>
              </a:ext>
            </a:extLst>
          </p:cNvPr>
          <p:cNvSpPr/>
          <p:nvPr/>
        </p:nvSpPr>
        <p:spPr>
          <a:xfrm>
            <a:off x="437964" y="5457716"/>
            <a:ext cx="5658036" cy="1027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Pre and Answer:  5+5=10mins. 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adjusted due to group numbers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B7DB53-AB4A-498C-B4D6-8682F3F3FF15}"/>
              </a:ext>
            </a:extLst>
          </p:cNvPr>
          <p:cNvSpPr/>
          <p:nvPr/>
        </p:nvSpPr>
        <p:spPr>
          <a:xfrm>
            <a:off x="411597" y="3217872"/>
            <a:ext cx="7267587" cy="2150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Allow and encourage the use of AI to assist in completing major assignments, but it is hoped that </a:t>
            </a:r>
            <a:r>
              <a:rPr lang="en-US" altLang="zh-CN" sz="23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</a:t>
            </a:r>
            <a:r>
              <a:rPr lang="en-US" altLang="zh-CN" sz="23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3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content of AI can be internalized</a:t>
            </a:r>
            <a:r>
              <a:rPr lang="en-US" altLang="zh-CN" sz="23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3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Everyone</a:t>
            </a:r>
            <a:r>
              <a:rPr lang="en-US" altLang="zh-CN" sz="23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needs to answer the questions.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1BBE545-75DF-4C13-B765-B6468CEEECB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794594" y="4200246"/>
          <a:ext cx="4145873" cy="2346038"/>
        </p:xfrm>
        <a:graphic>
          <a:graphicData uri="http://schemas.openxmlformats.org/drawingml/2006/table">
            <a:tbl>
              <a:tblPr/>
              <a:tblGrid>
                <a:gridCol w="1642478">
                  <a:extLst>
                    <a:ext uri="{9D8B030D-6E8A-4147-A177-3AD203B41FA5}">
                      <a16:colId xmlns:a16="http://schemas.microsoft.com/office/drawing/2014/main" val="94540354"/>
                    </a:ext>
                  </a:extLst>
                </a:gridCol>
                <a:gridCol w="1375931">
                  <a:extLst>
                    <a:ext uri="{9D8B030D-6E8A-4147-A177-3AD203B41FA5}">
                      <a16:colId xmlns:a16="http://schemas.microsoft.com/office/drawing/2014/main" val="2360056328"/>
                    </a:ext>
                  </a:extLst>
                </a:gridCol>
                <a:gridCol w="1127464">
                  <a:extLst>
                    <a:ext uri="{9D8B030D-6E8A-4147-A177-3AD203B41FA5}">
                      <a16:colId xmlns:a16="http://schemas.microsoft.com/office/drawing/2014/main" val="2272383803"/>
                    </a:ext>
                  </a:extLst>
                </a:gridCol>
              </a:tblGrid>
              <a:tr h="7304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Time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Project1-4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ProjectX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941006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15</a:t>
                      </a:r>
                      <a:r>
                        <a:rPr lang="en-US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th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Week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Evaluation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\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1073061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16</a:t>
                      </a:r>
                      <a:r>
                        <a:rPr lang="en-US" altLang="zh-CN" sz="2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th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Week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  <a:cs typeface="Arial" panose="020B0604020202020204" pitchFamily="34" charset="0"/>
                        </a:rPr>
                        <a:t>Pre and Answer</a:t>
                      </a:r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508510"/>
                  </a:ext>
                </a:extLst>
              </a:tr>
              <a:tr h="5385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After Exam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Submit </a:t>
                      </a:r>
                      <a:r>
                        <a:rPr lang="en-US" altLang="zh-C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Reoprt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205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43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39DBDA-E8B0-4CDA-A2D6-486C9C55F7EF}"/>
              </a:ext>
            </a:extLst>
          </p:cNvPr>
          <p:cNvSpPr/>
          <p:nvPr/>
        </p:nvSpPr>
        <p:spPr>
          <a:xfrm>
            <a:off x="82562" y="648515"/>
            <a:ext cx="12400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Instructions: Evaluation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D4BFD35-711A-08FF-F7C4-43582D91CEA3}"/>
              </a:ext>
            </a:extLst>
          </p:cNvPr>
          <p:cNvSpPr/>
          <p:nvPr/>
        </p:nvSpPr>
        <p:spPr>
          <a:xfrm>
            <a:off x="429352" y="1251929"/>
            <a:ext cx="11475603" cy="556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Quantitative Evaluation: 15</a:t>
            </a:r>
            <a:r>
              <a:rPr lang="en-US" altLang="zh-CN" sz="2400" baseline="300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Week.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Except for Project X, all projects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must submit test codes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using traditional image processing methods (Modern methods not involving deep models are allowed) or simple machine learning approaches for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quantitative evaluation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. During the quantitative assessment phase, large-scale models such as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deep learning models or external data are prohibited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.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 TAs will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provide demo test files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for each project for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quantitative evaluation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. 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However,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apart from quantitative evaluations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, you can also utilize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any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methods and resources to enhance your performance or show your thoughts and attempts. You can incorporate it in the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presentation or report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42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39DBDA-E8B0-4CDA-A2D6-486C9C55F7EF}"/>
              </a:ext>
            </a:extLst>
          </p:cNvPr>
          <p:cNvSpPr/>
          <p:nvPr/>
        </p:nvSpPr>
        <p:spPr>
          <a:xfrm>
            <a:off x="91440" y="697695"/>
            <a:ext cx="12400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1</a:t>
            </a: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Retinal Vessel Segmentation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D4BFD35-711A-08FF-F7C4-43582D91CEA3}"/>
              </a:ext>
            </a:extLst>
          </p:cNvPr>
          <p:cNvSpPr/>
          <p:nvPr/>
        </p:nvSpPr>
        <p:spPr>
          <a:xfrm>
            <a:off x="483906" y="1663213"/>
            <a:ext cx="11333295" cy="1131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Yingxi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used a slightly damaged machine to collect some retinal images. Please help him segment the retinal vessels.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8CB5797-8946-5066-4EBB-FFEBC1ED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799" y="3175805"/>
            <a:ext cx="2887402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69019CD-9687-4C58-A6B2-D4405248F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397" y="3175805"/>
            <a:ext cx="2887402" cy="298450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DE5BDE2-3690-4E48-B333-583BD1F01EBF}"/>
              </a:ext>
            </a:extLst>
          </p:cNvPr>
          <p:cNvSpPr/>
          <p:nvPr/>
        </p:nvSpPr>
        <p:spPr>
          <a:xfrm>
            <a:off x="535203" y="3429000"/>
            <a:ext cx="5615349" cy="2239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Data: 10 paired images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Evaluation: Dice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 test data also came from the</a:t>
            </a: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same damaged instruments.</a:t>
            </a:r>
          </a:p>
        </p:txBody>
      </p:sp>
    </p:spTree>
    <p:extLst>
      <p:ext uri="{BB962C8B-B14F-4D97-AF65-F5344CB8AC3E}">
        <p14:creationId xmlns:p14="http://schemas.microsoft.com/office/powerpoint/2010/main" val="3968073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1440" y="697695"/>
            <a:ext cx="1240028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kumimoji="0" lang="en-US" altLang="x-none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2</a:t>
            </a: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Skin lesion classification</a:t>
            </a:r>
          </a:p>
        </p:txBody>
      </p:sp>
      <p:sp>
        <p:nvSpPr>
          <p:cNvPr id="7" name="Rectangle 10"/>
          <p:cNvSpPr/>
          <p:nvPr/>
        </p:nvSpPr>
        <p:spPr>
          <a:xfrm>
            <a:off x="554171" y="1472236"/>
            <a:ext cx="11333295" cy="1687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Extract image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feature from skin lesion and use machine learning method to classify different lesions. The robustness of the algorithm needs to be demonstrated by the recognition of augmented images.</a:t>
            </a:r>
          </a:p>
        </p:txBody>
      </p:sp>
      <p:sp>
        <p:nvSpPr>
          <p:cNvPr id="4" name="矩形 3"/>
          <p:cNvSpPr/>
          <p:nvPr/>
        </p:nvSpPr>
        <p:spPr>
          <a:xfrm>
            <a:off x="432701" y="3159814"/>
            <a:ext cx="11454765" cy="1685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Data: 200 skin lesion images and another 400 augmented images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Evaluation: Classification results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 test data is also augmented from original data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E1207A5-B709-4B16-89F8-31C1809EF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9219" y="4920752"/>
            <a:ext cx="1800000" cy="18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2F13A37-1359-40CC-B264-5B2AF4E20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240" y="4920752"/>
            <a:ext cx="1800000" cy="180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9356D30-94B1-473D-8F9C-C59CA93E0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198" y="4920752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9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839DBDA-E8B0-4CDA-A2D6-486C9C55F7EF}"/>
              </a:ext>
            </a:extLst>
          </p:cNvPr>
          <p:cNvSpPr/>
          <p:nvPr/>
        </p:nvSpPr>
        <p:spPr>
          <a:xfrm>
            <a:off x="91440" y="697695"/>
            <a:ext cx="124002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3</a:t>
            </a: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ASL Image Restoration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0">
                <a:extLst>
                  <a:ext uri="{FF2B5EF4-FFF2-40B4-BE49-F238E27FC236}">
                    <a16:creationId xmlns:a16="http://schemas.microsoft.com/office/drawing/2014/main" id="{AD4BFD35-711A-08FF-F7C4-43582D91CEA3}"/>
                  </a:ext>
                </a:extLst>
              </p:cNvPr>
              <p:cNvSpPr/>
              <p:nvPr/>
            </p:nvSpPr>
            <p:spPr>
              <a:xfrm>
                <a:off x="483906" y="1663213"/>
                <a:ext cx="11333295" cy="1186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𝑔𝑡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frequency‑domain low‑pass filter and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𝑛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the additive noise. According to the degradation model, try to recover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𝑟𝑒𝑠𝑡𝑜𝑟𝑒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10">
                <a:extLst>
                  <a:ext uri="{FF2B5EF4-FFF2-40B4-BE49-F238E27FC236}">
                    <a16:creationId xmlns:a16="http://schemas.microsoft.com/office/drawing/2014/main" id="{AD4BFD35-711A-08FF-F7C4-43582D91C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06" y="1663213"/>
                <a:ext cx="11333295" cy="1186992"/>
              </a:xfrm>
              <a:prstGeom prst="rect">
                <a:avLst/>
              </a:prstGeom>
              <a:blipFill>
                <a:blip r:embed="rId3"/>
                <a:stretch>
                  <a:fillRect l="-699" r="-269"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E5BDE2-3690-4E48-B333-583BD1F01EBF}"/>
                  </a:ext>
                </a:extLst>
              </p:cNvPr>
              <p:cNvSpPr/>
              <p:nvPr/>
            </p:nvSpPr>
            <p:spPr>
              <a:xfrm>
                <a:off x="483906" y="3059483"/>
                <a:ext cx="6166222" cy="3347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Data: 10 cases (3D images)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Evaluation: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Weighting schemes for Noise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level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Sharpness, High-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freq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energy  and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Reblur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error (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𝐷𝑒𝑔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𝑟𝑒𝑠𝑡𝑜𝑟𝑒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altLang="zh-CN" sz="2400" dirty="0">
                  <a:solidFill>
                    <a:srgbClr val="000000"/>
                  </a:solidFill>
                  <a:latin typeface="Arial" panose="020B0604020202020204" pitchFamily="34" charset="0"/>
                  <a:ea typeface="华文中宋" panose="0201060004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The test data also came from the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华文中宋" panose="02010600040101010101" pitchFamily="2" charset="-122"/>
                    <a:cs typeface="Arial" panose="020B0604020202020204" pitchFamily="34" charset="0"/>
                  </a:rPr>
                  <a:t>same degradation model.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DE5BDE2-3690-4E48-B333-583BD1F01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06" y="3059483"/>
                <a:ext cx="6166222" cy="3347840"/>
              </a:xfrm>
              <a:prstGeom prst="rect">
                <a:avLst/>
              </a:prstGeom>
              <a:blipFill>
                <a:blip r:embed="rId4"/>
                <a:stretch>
                  <a:fillRect l="-1285" r="-1482" b="-3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8193228F-5946-3ADD-BEC3-86ABBF718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526" y="3557391"/>
            <a:ext cx="2552319" cy="27594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301977-B8E6-F344-C673-895B23F8D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978" y="3557390"/>
            <a:ext cx="2505548" cy="275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373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1440" y="697695"/>
            <a:ext cx="1240028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kumimoji="0" lang="en-US" altLang="x-none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4</a:t>
            </a: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: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Multimodal MRI Image Registration</a:t>
            </a:r>
          </a:p>
        </p:txBody>
      </p:sp>
      <p:sp>
        <p:nvSpPr>
          <p:cNvPr id="7" name="Rectangle 10"/>
          <p:cNvSpPr/>
          <p:nvPr/>
        </p:nvSpPr>
        <p:spPr>
          <a:xfrm>
            <a:off x="483906" y="1663213"/>
            <a:ext cx="1133329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Register the provided whole-head T2 MRI images to the skull-stripped T1 MRI images, with flexibility to design custom experimental protocols.</a:t>
            </a:r>
          </a:p>
        </p:txBody>
      </p:sp>
      <p:sp>
        <p:nvSpPr>
          <p:cNvPr id="4" name="矩形 3"/>
          <p:cNvSpPr/>
          <p:nvPr/>
        </p:nvSpPr>
        <p:spPr>
          <a:xfrm>
            <a:off x="847090" y="2886710"/>
            <a:ext cx="11454765" cy="1685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Data: 6 paired images (T1 and T2)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Evaluation: Weighting schemes for MI, NMI, Pearson and GradMagPearson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 test data is similar to the experimental data.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00" y="4639945"/>
            <a:ext cx="8055610" cy="199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6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1440" y="697695"/>
            <a:ext cx="12400281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x-none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</a:t>
            </a:r>
            <a:r>
              <a:rPr kumimoji="0" lang="en-US" altLang="x-none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X 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中宋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5331" y="1778975"/>
            <a:ext cx="11212497" cy="3174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The quantitative evaluation scores will be integrated into the presentation.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Project X also requires the use of 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at least one 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traditional method (Modern methods not involving deep models are allowed) or simple machine learning.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Your project your way!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Freedom in choosing the project topics, but limited to biomedical image related projects.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Arial" panose="020B0604020202020204" pitchFamily="34" charset="0"/>
              </a:rPr>
              <a:t>Please discuss with teachers or the teaching assistants about your project design.</a:t>
            </a:r>
          </a:p>
        </p:txBody>
      </p:sp>
    </p:spTree>
    <p:extLst>
      <p:ext uri="{BB962C8B-B14F-4D97-AF65-F5344CB8AC3E}">
        <p14:creationId xmlns:p14="http://schemas.microsoft.com/office/powerpoint/2010/main" val="1613004986"/>
      </p:ext>
    </p:extLst>
  </p:cSld>
  <p:clrMapOvr>
    <a:masterClrMapping/>
  </p:clrMapOvr>
</p:sld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7177</TotalTime>
  <Words>562</Words>
  <Application>Microsoft Office PowerPoint</Application>
  <PresentationFormat>宽屏</PresentationFormat>
  <Paragraphs>68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等线</vt:lpstr>
      <vt:lpstr>华文中宋</vt:lpstr>
      <vt:lpstr>宋体</vt:lpstr>
      <vt:lpstr>微软雅黑</vt:lpstr>
      <vt:lpstr>Arial</vt:lpstr>
      <vt:lpstr>Book Antiqua</vt:lpstr>
      <vt:lpstr>Cambria Math</vt:lpstr>
      <vt:lpstr>Times New Roman</vt:lpstr>
      <vt:lpstr>Verdana</vt:lpstr>
      <vt:lpstr>DIP-2E-book-presentations-template</vt:lpstr>
      <vt:lpstr>2026 Final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QTM425A</dc:creator>
  <cp:lastModifiedBy>Lenovo</cp:lastModifiedBy>
  <cp:revision>73</cp:revision>
  <dcterms:created xsi:type="dcterms:W3CDTF">2025-04-21T12:28:13Z</dcterms:created>
  <dcterms:modified xsi:type="dcterms:W3CDTF">2026-04-28T12:42:20Z</dcterms:modified>
</cp:coreProperties>
</file>